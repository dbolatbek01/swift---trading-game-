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6.jpg" ContentType="image/png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8" r:id="rId5"/>
    <p:sldId id="280" r:id="rId6"/>
    <p:sldId id="294" r:id="rId7"/>
    <p:sldId id="286" r:id="rId8"/>
    <p:sldId id="295" r:id="rId9"/>
    <p:sldId id="283" r:id="rId10"/>
    <p:sldId id="278" r:id="rId11"/>
    <p:sldId id="297" r:id="rId12"/>
    <p:sldId id="296" r:id="rId13"/>
    <p:sldId id="276" r:id="rId14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1541" autoAdjust="0"/>
  </p:normalViewPr>
  <p:slideViewPr>
    <p:cSldViewPr snapToGrid="0" showGuides="1">
      <p:cViewPr varScale="1">
        <p:scale>
          <a:sx n="68" d="100"/>
          <a:sy n="68" d="100"/>
        </p:scale>
        <p:origin x="57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E87C01A-9758-4250-8ECE-0642C0695A6C}" type="datetime1">
              <a:rPr lang="de-DE" smtClean="0"/>
              <a:t>02.10.2025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18A1656-FDB1-442A-B22F-67D2FDA9ED1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47850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5684A-D8A0-486B-B44A-49251F0233F5}" type="datetime1">
              <a:rPr lang="de-DE" smtClean="0"/>
              <a:pPr/>
              <a:t>02.10.2025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979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de-DE" noProof="0" smtClean="0"/>
              <a:t>3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34042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de-DE" noProof="0" smtClean="0"/>
              <a:t>4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27047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de-DE" noProof="0" smtClean="0"/>
              <a:t>5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475344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de-DE" noProof="0" smtClean="0"/>
              <a:t>6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31179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822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312605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313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1579014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7745" y="5379832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337688" y="5257453"/>
            <a:ext cx="313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Bild 8">
            <a:extLst>
              <a:ext uri="{FF2B5EF4-FFF2-40B4-BE49-F238E27FC236}">
                <a16:creationId xmlns:a16="http://schemas.microsoft.com/office/drawing/2014/main" id="{65B85C08-1DBE-4055-8D6F-73F19C4528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 dirty="0"/>
              <a:t>Hier Platzhaltertext einfügen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2E17FB3-B5C4-4B3A-A57B-C6493A9D0C66}"/>
              </a:ext>
            </a:extLst>
          </p:cNvPr>
          <p:cNvGrpSpPr/>
          <p:nvPr userDrawn="1"/>
        </p:nvGrpSpPr>
        <p:grpSpPr>
          <a:xfrm rot="8650774">
            <a:off x="2691063" y="3860360"/>
            <a:ext cx="1905000" cy="2354263"/>
            <a:chOff x="11114088" y="2241550"/>
            <a:chExt cx="1905000" cy="2354263"/>
          </a:xfrm>
          <a:solidFill>
            <a:schemeClr val="bg2"/>
          </a:solidFill>
        </p:grpSpPr>
        <p:sp>
          <p:nvSpPr>
            <p:cNvPr id="11" name="Freihandform 5">
              <a:extLst>
                <a:ext uri="{FF2B5EF4-FFF2-40B4-BE49-F238E27FC236}">
                  <a16:creationId xmlns:a16="http://schemas.microsoft.com/office/drawing/2014/main" id="{DCA6C454-F761-4265-BB5E-DFD947CC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2" name="Freihandform 6">
              <a:extLst>
                <a:ext uri="{FF2B5EF4-FFF2-40B4-BE49-F238E27FC236}">
                  <a16:creationId xmlns:a16="http://schemas.microsoft.com/office/drawing/2014/main" id="{6B853B2F-9E1C-4AC4-9344-8610498D5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7">
              <a:extLst>
                <a:ext uri="{FF2B5EF4-FFF2-40B4-BE49-F238E27FC236}">
                  <a16:creationId xmlns:a16="http://schemas.microsoft.com/office/drawing/2014/main" id="{B7FCC84B-2235-4948-8277-8363DFC6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3" name="Bildplatzhalt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s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accent2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01 einfügen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02 einfügen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Bildplatzhalt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9" name="Bildplatzhalt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4B31150-A166-4DB3-A898-2154C9665891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Freihandform 5">
              <a:extLst>
                <a:ext uri="{FF2B5EF4-FFF2-40B4-BE49-F238E27FC236}">
                  <a16:creationId xmlns:a16="http://schemas.microsoft.com/office/drawing/2014/main" id="{1C1A95BC-42CA-4166-918D-DF4306881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6">
              <a:extLst>
                <a:ext uri="{FF2B5EF4-FFF2-40B4-BE49-F238E27FC236}">
                  <a16:creationId xmlns:a16="http://schemas.microsoft.com/office/drawing/2014/main" id="{4B4D5F91-2158-4A30-B83C-5CC9CC6E5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4" name="Freihandform 7">
              <a:extLst>
                <a:ext uri="{FF2B5EF4-FFF2-40B4-BE49-F238E27FC236}">
                  <a16:creationId xmlns:a16="http://schemas.microsoft.com/office/drawing/2014/main" id="{C509E5D6-79CC-4E1D-AAF4-C6F28F3C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6502"/>
            <a:ext cx="1073019" cy="243867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431CD316-21C7-4FA9-A45A-374D6AE71ED5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36" name="Freihandform 5">
              <a:extLst>
                <a:ext uri="{FF2B5EF4-FFF2-40B4-BE49-F238E27FC236}">
                  <a16:creationId xmlns:a16="http://schemas.microsoft.com/office/drawing/2014/main" id="{E107D9FB-3967-4583-A9DA-6787AF712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7" name="Freihandform 6">
              <a:extLst>
                <a:ext uri="{FF2B5EF4-FFF2-40B4-BE49-F238E27FC236}">
                  <a16:creationId xmlns:a16="http://schemas.microsoft.com/office/drawing/2014/main" id="{138D5FEB-37FF-4F26-B625-CE2BE91F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8" name="Freihandform 7">
              <a:extLst>
                <a:ext uri="{FF2B5EF4-FFF2-40B4-BE49-F238E27FC236}">
                  <a16:creationId xmlns:a16="http://schemas.microsoft.com/office/drawing/2014/main" id="{6C2B67E8-673C-422C-B021-296E2E2B9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23" name="Ellipse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schö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E-Mail-Adresse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844881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 rtl="0"/>
            <a:r>
              <a:rPr lang="de-DE" noProof="0" dirty="0"/>
              <a:t>Hier Website-URL einfügen</a:t>
            </a:r>
          </a:p>
        </p:txBody>
      </p:sp>
      <p:pic>
        <p:nvPicPr>
          <p:cNvPr id="17" name="Grafik 16" descr="Umschlag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fik 17" descr="Netzwe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17982" y="4623048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el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613" y="2968096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D5251EA-F450-4DD1-995B-DC89513424C8}"/>
              </a:ext>
            </a:extLst>
          </p:cNvPr>
          <p:cNvGrpSpPr/>
          <p:nvPr userDrawn="1"/>
        </p:nvGrpSpPr>
        <p:grpSpPr>
          <a:xfrm rot="16200000">
            <a:off x="1637386" y="1473117"/>
            <a:ext cx="8917229" cy="10769768"/>
            <a:chOff x="-1728305" y="-2049517"/>
            <a:chExt cx="8917229" cy="10769768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44882F4E-E8C8-46FE-A9C8-7B79782767F6}"/>
                </a:ext>
              </a:extLst>
            </p:cNvPr>
            <p:cNvSpPr/>
            <p:nvPr userDrawn="1"/>
          </p:nvSpPr>
          <p:spPr>
            <a:xfrm>
              <a:off x="754010" y="708293"/>
              <a:ext cx="5334029" cy="5334029"/>
            </a:xfrm>
            <a:prstGeom prst="ellipse">
              <a:avLst/>
            </a:prstGeom>
            <a:solidFill>
              <a:schemeClr val="bg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965CD13B-04FB-40D5-AF62-2F43CF49BA9B}"/>
                </a:ext>
              </a:extLst>
            </p:cNvPr>
            <p:cNvGrpSpPr/>
            <p:nvPr userDrawn="1"/>
          </p:nvGrpSpPr>
          <p:grpSpPr>
            <a:xfrm>
              <a:off x="-1728305" y="-2049517"/>
              <a:ext cx="8917229" cy="10769768"/>
              <a:chOff x="11114088" y="2241550"/>
              <a:chExt cx="1905000" cy="2354263"/>
            </a:xfrm>
            <a:solidFill>
              <a:schemeClr val="bg1">
                <a:alpha val="16000"/>
              </a:schemeClr>
            </a:solidFill>
          </p:grpSpPr>
          <p:sp>
            <p:nvSpPr>
              <p:cNvPr id="19" name="Freihandform 5">
                <a:extLst>
                  <a:ext uri="{FF2B5EF4-FFF2-40B4-BE49-F238E27FC236}">
                    <a16:creationId xmlns:a16="http://schemas.microsoft.com/office/drawing/2014/main" id="{01876F8F-C11E-4FB2-8150-1F0602752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2241550"/>
                <a:ext cx="1905000" cy="2354263"/>
              </a:xfrm>
              <a:custGeom>
                <a:avLst/>
                <a:gdLst>
                  <a:gd name="T0" fmla="*/ 0 w 447"/>
                  <a:gd name="T1" fmla="*/ 264 h 553"/>
                  <a:gd name="T2" fmla="*/ 141 w 447"/>
                  <a:gd name="T3" fmla="*/ 48 h 553"/>
                  <a:gd name="T4" fmla="*/ 414 w 447"/>
                  <a:gd name="T5" fmla="*/ 67 h 553"/>
                  <a:gd name="T6" fmla="*/ 438 w 447"/>
                  <a:gd name="T7" fmla="*/ 98 h 553"/>
                  <a:gd name="T8" fmla="*/ 391 w 447"/>
                  <a:gd name="T9" fmla="*/ 111 h 553"/>
                  <a:gd name="T10" fmla="*/ 94 w 447"/>
                  <a:gd name="T11" fmla="*/ 149 h 553"/>
                  <a:gd name="T12" fmla="*/ 107 w 447"/>
                  <a:gd name="T13" fmla="*/ 424 h 553"/>
                  <a:gd name="T14" fmla="*/ 383 w 447"/>
                  <a:gd name="T15" fmla="*/ 453 h 553"/>
                  <a:gd name="T16" fmla="*/ 393 w 447"/>
                  <a:gd name="T17" fmla="*/ 446 h 553"/>
                  <a:gd name="T18" fmla="*/ 433 w 447"/>
                  <a:gd name="T19" fmla="*/ 449 h 553"/>
                  <a:gd name="T20" fmla="*/ 421 w 447"/>
                  <a:gd name="T21" fmla="*/ 485 h 553"/>
                  <a:gd name="T22" fmla="*/ 194 w 447"/>
                  <a:gd name="T23" fmla="*/ 531 h 553"/>
                  <a:gd name="T24" fmla="*/ 0 w 447"/>
                  <a:gd name="T25" fmla="*/ 26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7" h="553">
                    <a:moveTo>
                      <a:pt x="0" y="264"/>
                    </a:moveTo>
                    <a:cubicBezTo>
                      <a:pt x="5" y="176"/>
                      <a:pt x="49" y="96"/>
                      <a:pt x="141" y="48"/>
                    </a:cubicBezTo>
                    <a:cubicBezTo>
                      <a:pt x="235" y="0"/>
                      <a:pt x="327" y="9"/>
                      <a:pt x="414" y="67"/>
                    </a:cubicBezTo>
                    <a:cubicBezTo>
                      <a:pt x="425" y="75"/>
                      <a:pt x="439" y="82"/>
                      <a:pt x="438" y="98"/>
                    </a:cubicBezTo>
                    <a:cubicBezTo>
                      <a:pt x="437" y="120"/>
                      <a:pt x="413" y="127"/>
                      <a:pt x="391" y="111"/>
                    </a:cubicBezTo>
                    <a:cubicBezTo>
                      <a:pt x="294" y="40"/>
                      <a:pt x="166" y="56"/>
                      <a:pt x="94" y="149"/>
                    </a:cubicBezTo>
                    <a:cubicBezTo>
                      <a:pt x="30" y="231"/>
                      <a:pt x="36" y="349"/>
                      <a:pt x="107" y="424"/>
                    </a:cubicBezTo>
                    <a:cubicBezTo>
                      <a:pt x="180" y="502"/>
                      <a:pt x="296" y="514"/>
                      <a:pt x="383" y="453"/>
                    </a:cubicBezTo>
                    <a:cubicBezTo>
                      <a:pt x="386" y="451"/>
                      <a:pt x="390" y="449"/>
                      <a:pt x="393" y="446"/>
                    </a:cubicBezTo>
                    <a:cubicBezTo>
                      <a:pt x="407" y="433"/>
                      <a:pt x="420" y="433"/>
                      <a:pt x="433" y="449"/>
                    </a:cubicBezTo>
                    <a:cubicBezTo>
                      <a:pt x="447" y="467"/>
                      <a:pt x="433" y="477"/>
                      <a:pt x="421" y="485"/>
                    </a:cubicBezTo>
                    <a:cubicBezTo>
                      <a:pt x="353" y="537"/>
                      <a:pt x="277" y="553"/>
                      <a:pt x="194" y="531"/>
                    </a:cubicBezTo>
                    <a:cubicBezTo>
                      <a:pt x="79" y="501"/>
                      <a:pt x="1" y="397"/>
                      <a:pt x="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  <p:sp>
            <p:nvSpPr>
              <p:cNvPr id="20" name="Freihandform 6">
                <a:extLst>
                  <a:ext uri="{FF2B5EF4-FFF2-40B4-BE49-F238E27FC236}">
                    <a16:creationId xmlns:a16="http://schemas.microsoft.com/office/drawing/2014/main" id="{08A1D05F-5F61-4156-8C83-1A002AA1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12538" y="2590800"/>
                <a:ext cx="835025" cy="1673225"/>
              </a:xfrm>
              <a:custGeom>
                <a:avLst/>
                <a:gdLst>
                  <a:gd name="T0" fmla="*/ 0 w 196"/>
                  <a:gd name="T1" fmla="*/ 198 h 393"/>
                  <a:gd name="T2" fmla="*/ 157 w 196"/>
                  <a:gd name="T3" fmla="*/ 8 h 393"/>
                  <a:gd name="T4" fmla="*/ 192 w 196"/>
                  <a:gd name="T5" fmla="*/ 22 h 393"/>
                  <a:gd name="T6" fmla="*/ 167 w 196"/>
                  <a:gd name="T7" fmla="*/ 56 h 393"/>
                  <a:gd name="T8" fmla="*/ 48 w 196"/>
                  <a:gd name="T9" fmla="*/ 198 h 393"/>
                  <a:gd name="T10" fmla="*/ 170 w 196"/>
                  <a:gd name="T11" fmla="*/ 339 h 393"/>
                  <a:gd name="T12" fmla="*/ 193 w 196"/>
                  <a:gd name="T13" fmla="*/ 372 h 393"/>
                  <a:gd name="T14" fmla="*/ 160 w 196"/>
                  <a:gd name="T15" fmla="*/ 387 h 393"/>
                  <a:gd name="T16" fmla="*/ 0 w 196"/>
                  <a:gd name="T17" fmla="*/ 19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393">
                    <a:moveTo>
                      <a:pt x="0" y="198"/>
                    </a:moveTo>
                    <a:cubicBezTo>
                      <a:pt x="0" y="103"/>
                      <a:pt x="64" y="26"/>
                      <a:pt x="157" y="8"/>
                    </a:cubicBezTo>
                    <a:cubicBezTo>
                      <a:pt x="171" y="6"/>
                      <a:pt x="188" y="0"/>
                      <a:pt x="192" y="22"/>
                    </a:cubicBezTo>
                    <a:cubicBezTo>
                      <a:pt x="196" y="41"/>
                      <a:pt x="190" y="52"/>
                      <a:pt x="167" y="56"/>
                    </a:cubicBezTo>
                    <a:cubicBezTo>
                      <a:pt x="95" y="70"/>
                      <a:pt x="47" y="129"/>
                      <a:pt x="48" y="198"/>
                    </a:cubicBezTo>
                    <a:cubicBezTo>
                      <a:pt x="48" y="267"/>
                      <a:pt x="97" y="325"/>
                      <a:pt x="170" y="339"/>
                    </a:cubicBezTo>
                    <a:cubicBezTo>
                      <a:pt x="191" y="343"/>
                      <a:pt x="195" y="354"/>
                      <a:pt x="193" y="372"/>
                    </a:cubicBezTo>
                    <a:cubicBezTo>
                      <a:pt x="190" y="393"/>
                      <a:pt x="174" y="389"/>
                      <a:pt x="160" y="387"/>
                    </a:cubicBezTo>
                    <a:cubicBezTo>
                      <a:pt x="70" y="375"/>
                      <a:pt x="0" y="293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</p:grpSp>
      </p:grp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0E0B501-22AA-4685-BE9B-A267F6F675A7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4" name="Freihandform 5">
              <a:extLst>
                <a:ext uri="{FF2B5EF4-FFF2-40B4-BE49-F238E27FC236}">
                  <a16:creationId xmlns:a16="http://schemas.microsoft.com/office/drawing/2014/main" id="{5D0E179E-CA3D-4874-9ACD-F8990F48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5" name="Freihandform 6">
              <a:extLst>
                <a:ext uri="{FF2B5EF4-FFF2-40B4-BE49-F238E27FC236}">
                  <a16:creationId xmlns:a16="http://schemas.microsoft.com/office/drawing/2014/main" id="{A9C53936-B93A-4CF6-8766-2FA93ACF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6" name="Freihandform 7">
              <a:extLst>
                <a:ext uri="{FF2B5EF4-FFF2-40B4-BE49-F238E27FC236}">
                  <a16:creationId xmlns:a16="http://schemas.microsoft.com/office/drawing/2014/main" id="{5776DEA2-5422-4F51-B359-652B7127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2" name="Bild 11">
            <a:extLst>
              <a:ext uri="{FF2B5EF4-FFF2-40B4-BE49-F238E27FC236}">
                <a16:creationId xmlns:a16="http://schemas.microsoft.com/office/drawing/2014/main" id="{EC2DFD46-BF74-47BA-A496-92ED1979C3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reihandform 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0" name="Freihandform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332150F9-14BF-4DCB-884D-49596914C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1" name="Titel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reihandform 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4" name="Freihandform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9" name="Inhaltsplatzhalt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21" name="Bild 20">
            <a:extLst>
              <a:ext uri="{FF2B5EF4-FFF2-40B4-BE49-F238E27FC236}">
                <a16:creationId xmlns:a16="http://schemas.microsoft.com/office/drawing/2014/main" id="{03383C6B-3BE4-4380-AF26-1C21492FC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5" name="Titel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9" name="Titel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06298D65-1027-4897-A948-DCEEF8FC3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reihandform 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91881DEA-0ECB-4310-ADF5-4337ACB433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F5B716E-F937-40F9-B6CA-96B3068BCF36}" type="datetime1">
              <a:rPr lang="de-DE" noProof="0" smtClean="0"/>
              <a:t>02.10.2025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10" Type="http://schemas.openxmlformats.org/officeDocument/2006/relationships/image" Target="../media/image30.png"/><Relationship Id="rId4" Type="http://schemas.openxmlformats.org/officeDocument/2006/relationships/image" Target="../media/image25.svg"/><Relationship Id="rId9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B08B8-3DB3-4637-AE23-B8DB96D9F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7688" y="1439517"/>
            <a:ext cx="5987394" cy="3883715"/>
          </a:xfrm>
        </p:spPr>
        <p:txBody>
          <a:bodyPr rtlCol="0"/>
          <a:lstStyle/>
          <a:p>
            <a:pPr rtl="0"/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</a:t>
            </a:r>
            <a:r>
              <a:rPr lang="de-DE" dirty="0"/>
              <a:t>oftware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</a:t>
            </a:r>
            <a:r>
              <a:rPr lang="de-DE" dirty="0"/>
              <a:t>ildau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r>
              <a:rPr lang="de-DE" dirty="0"/>
              <a:t>nvestment and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</a:t>
            </a:r>
            <a:r>
              <a:rPr lang="de-DE" dirty="0"/>
              <a:t>inancial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</a:t>
            </a:r>
            <a:r>
              <a:rPr lang="de-DE" dirty="0"/>
              <a:t>rading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98AA37-E298-4CD8-9F0F-2123ACFD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7688" y="5418483"/>
            <a:ext cx="5143500" cy="503167"/>
          </a:xfrm>
        </p:spPr>
        <p:txBody>
          <a:bodyPr rtlCol="0"/>
          <a:lstStyle/>
          <a:p>
            <a:pPr rtl="0"/>
            <a:r>
              <a:rPr lang="de-DE" dirty="0"/>
              <a:t>SWIFT </a:t>
            </a:r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CF942580-3492-48E1-B0BD-8D8901333DC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717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A084AC-14F6-4C9C-B8C7-31E29CD72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27" y="2840967"/>
            <a:ext cx="10213946" cy="1176066"/>
          </a:xfrm>
        </p:spPr>
        <p:txBody>
          <a:bodyPr/>
          <a:lstStyle/>
          <a:p>
            <a:r>
              <a:rPr lang="de-DE" sz="8000" dirty="0"/>
              <a:t>Wir machen Weiter!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E307C0B-47BD-4C72-BAD3-ECCE3F98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2</a:t>
            </a:fld>
            <a:endParaRPr lang="de-DE" noProof="0" dirty="0"/>
          </a:p>
        </p:txBody>
      </p:sp>
      <p:pic>
        <p:nvPicPr>
          <p:cNvPr id="5" name="Grafik 4" descr="Feuerwerk mit einfarbiger Füllung">
            <a:extLst>
              <a:ext uri="{FF2B5EF4-FFF2-40B4-BE49-F238E27FC236}">
                <a16:creationId xmlns:a16="http://schemas.microsoft.com/office/drawing/2014/main" id="{5677443F-51F5-4B4D-8F40-8EFDDBAFA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5600" y="0"/>
            <a:ext cx="3044613" cy="3044613"/>
          </a:xfrm>
          <a:prstGeom prst="rect">
            <a:avLst/>
          </a:prstGeom>
        </p:spPr>
      </p:pic>
      <p:pic>
        <p:nvPicPr>
          <p:cNvPr id="6" name="Grafik 5" descr="Feuerwerk mit einfarbiger Füllung">
            <a:extLst>
              <a:ext uri="{FF2B5EF4-FFF2-40B4-BE49-F238E27FC236}">
                <a16:creationId xmlns:a16="http://schemas.microsoft.com/office/drawing/2014/main" id="{7696F452-EA06-42E5-A03A-80D858158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4720" y="3813387"/>
            <a:ext cx="3044613" cy="304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4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0323DF-9A82-472C-B43F-3B8598CEE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Technologien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FCF8E63-6491-469A-A019-B0F85F5F7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3</a:t>
            </a:fld>
            <a:endParaRPr lang="de-DE" noProof="0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CC3A9B64-D273-429D-A28B-6B25BE347DFD}"/>
              </a:ext>
            </a:extLst>
          </p:cNvPr>
          <p:cNvSpPr/>
          <p:nvPr/>
        </p:nvSpPr>
        <p:spPr>
          <a:xfrm>
            <a:off x="524320" y="1713308"/>
            <a:ext cx="3536526" cy="1828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4D41722-CE96-4ED4-93EB-5614A7DCDB5C}"/>
              </a:ext>
            </a:extLst>
          </p:cNvPr>
          <p:cNvSpPr/>
          <p:nvPr/>
        </p:nvSpPr>
        <p:spPr>
          <a:xfrm>
            <a:off x="4716805" y="1709372"/>
            <a:ext cx="3536527" cy="1828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B313AF6-2573-4FFD-A28D-603DDD23AB68}"/>
              </a:ext>
            </a:extLst>
          </p:cNvPr>
          <p:cNvSpPr/>
          <p:nvPr/>
        </p:nvSpPr>
        <p:spPr>
          <a:xfrm>
            <a:off x="8964743" y="2896948"/>
            <a:ext cx="2878667" cy="1828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ADA916BE-C6F3-4975-ACBF-68BED2B4C8B3}"/>
              </a:ext>
            </a:extLst>
          </p:cNvPr>
          <p:cNvSpPr/>
          <p:nvPr/>
        </p:nvSpPr>
        <p:spPr>
          <a:xfrm>
            <a:off x="4489851" y="3902908"/>
            <a:ext cx="4253653" cy="270625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Picture 8" descr="Next.js Logo - PNG Logo Vector Brand Downloads (SVG, EPS)">
            <a:extLst>
              <a:ext uri="{FF2B5EF4-FFF2-40B4-BE49-F238E27FC236}">
                <a16:creationId xmlns:a16="http://schemas.microsoft.com/office/drawing/2014/main" id="{B7B3E32B-51AA-4B66-99D7-E84BB0AF0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93" y="1633089"/>
            <a:ext cx="3182780" cy="198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1E937B-ECA1-444D-B848-09C6B161C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260" y="2795172"/>
            <a:ext cx="3877486" cy="2035680"/>
          </a:xfrm>
          <a:prstGeom prst="rect">
            <a:avLst/>
          </a:prstGeom>
        </p:spPr>
      </p:pic>
      <p:sp>
        <p:nvSpPr>
          <p:cNvPr id="13" name="Inhaltsplatzhalter 4">
            <a:extLst>
              <a:ext uri="{FF2B5EF4-FFF2-40B4-BE49-F238E27FC236}">
                <a16:creationId xmlns:a16="http://schemas.microsoft.com/office/drawing/2014/main" id="{6A5C503D-C555-4AA2-8FD1-4326092EA287}"/>
              </a:ext>
            </a:extLst>
          </p:cNvPr>
          <p:cNvSpPr txBox="1">
            <a:spLocks/>
          </p:cNvSpPr>
          <p:nvPr/>
        </p:nvSpPr>
        <p:spPr>
          <a:xfrm>
            <a:off x="703717" y="1299505"/>
            <a:ext cx="3445566" cy="49538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Frontend</a:t>
            </a:r>
          </a:p>
        </p:txBody>
      </p:sp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ABCE928C-A3A8-4FAF-A30C-774433A9B895}"/>
              </a:ext>
            </a:extLst>
          </p:cNvPr>
          <p:cNvSpPr txBox="1">
            <a:spLocks/>
          </p:cNvSpPr>
          <p:nvPr/>
        </p:nvSpPr>
        <p:spPr>
          <a:xfrm>
            <a:off x="4893894" y="1295569"/>
            <a:ext cx="3445566" cy="49538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Backend</a:t>
            </a:r>
          </a:p>
        </p:txBody>
      </p:sp>
      <p:sp>
        <p:nvSpPr>
          <p:cNvPr id="15" name="Inhaltsplatzhalter 4">
            <a:extLst>
              <a:ext uri="{FF2B5EF4-FFF2-40B4-BE49-F238E27FC236}">
                <a16:creationId xmlns:a16="http://schemas.microsoft.com/office/drawing/2014/main" id="{B7AC99C0-9620-45BE-A010-B66C3BFBBF60}"/>
              </a:ext>
            </a:extLst>
          </p:cNvPr>
          <p:cNvSpPr txBox="1">
            <a:spLocks/>
          </p:cNvSpPr>
          <p:nvPr/>
        </p:nvSpPr>
        <p:spPr>
          <a:xfrm>
            <a:off x="4716805" y="3905113"/>
            <a:ext cx="3445566" cy="49538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API-Service </a:t>
            </a:r>
          </a:p>
        </p:txBody>
      </p:sp>
      <p:sp>
        <p:nvSpPr>
          <p:cNvPr id="16" name="Inhaltsplatzhalter 4">
            <a:extLst>
              <a:ext uri="{FF2B5EF4-FFF2-40B4-BE49-F238E27FC236}">
                <a16:creationId xmlns:a16="http://schemas.microsoft.com/office/drawing/2014/main" id="{C2A317B0-E442-4FB3-BC26-126DE8B74D55}"/>
              </a:ext>
            </a:extLst>
          </p:cNvPr>
          <p:cNvSpPr txBox="1">
            <a:spLocks/>
          </p:cNvSpPr>
          <p:nvPr/>
        </p:nvSpPr>
        <p:spPr>
          <a:xfrm>
            <a:off x="9857779" y="2464313"/>
            <a:ext cx="3445566" cy="49538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Datenbank</a:t>
            </a:r>
          </a:p>
        </p:txBody>
      </p:sp>
      <p:sp>
        <p:nvSpPr>
          <p:cNvPr id="17" name="Pfeil: nach oben und unten 16">
            <a:extLst>
              <a:ext uri="{FF2B5EF4-FFF2-40B4-BE49-F238E27FC236}">
                <a16:creationId xmlns:a16="http://schemas.microsoft.com/office/drawing/2014/main" id="{0637E334-5EEE-4EA6-9ED8-F9A5990A0755}"/>
              </a:ext>
            </a:extLst>
          </p:cNvPr>
          <p:cNvSpPr/>
          <p:nvPr/>
        </p:nvSpPr>
        <p:spPr>
          <a:xfrm rot="16200000">
            <a:off x="4318516" y="2291124"/>
            <a:ext cx="140619" cy="655955"/>
          </a:xfrm>
          <a:prstGeom prst="up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Pfeil: nach oben und unten 22">
            <a:extLst>
              <a:ext uri="{FF2B5EF4-FFF2-40B4-BE49-F238E27FC236}">
                <a16:creationId xmlns:a16="http://schemas.microsoft.com/office/drawing/2014/main" id="{4533E87A-8DEE-4C07-83F5-6C5543315419}"/>
              </a:ext>
            </a:extLst>
          </p:cNvPr>
          <p:cNvSpPr/>
          <p:nvPr/>
        </p:nvSpPr>
        <p:spPr>
          <a:xfrm rot="18089206">
            <a:off x="8614431" y="2215490"/>
            <a:ext cx="124951" cy="962270"/>
          </a:xfrm>
          <a:prstGeom prst="up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Pfeil: nach oben und unten 23">
            <a:extLst>
              <a:ext uri="{FF2B5EF4-FFF2-40B4-BE49-F238E27FC236}">
                <a16:creationId xmlns:a16="http://schemas.microsoft.com/office/drawing/2014/main" id="{E66A73B7-0592-40A7-8E1B-BF9B9D6FBA0C}"/>
              </a:ext>
            </a:extLst>
          </p:cNvPr>
          <p:cNvSpPr/>
          <p:nvPr/>
        </p:nvSpPr>
        <p:spPr>
          <a:xfrm rot="13806697">
            <a:off x="9057354" y="4553868"/>
            <a:ext cx="124951" cy="962270"/>
          </a:xfrm>
          <a:prstGeom prst="up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CA54BFCD-CE43-4F86-B5FA-3C848494EF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88569" y="2031005"/>
            <a:ext cx="2373802" cy="60915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192E3EB7-7A0F-46EE-861D-FD5B5479BC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7734" y="3941294"/>
            <a:ext cx="3819172" cy="3819172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E71073D3-6A6B-4867-96CD-32CD034E76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2406" y="3561660"/>
            <a:ext cx="2735986" cy="2735986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9207050-6E00-4847-80F9-BEA43C4DE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166" y="1609424"/>
            <a:ext cx="2019356" cy="2019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36210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083987-D6B5-44B9-A562-49B64342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 Aufteilung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3E97385-CDB8-4CC8-BC3E-C250A51C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4</a:t>
            </a:fld>
            <a:endParaRPr lang="de-DE" noProof="0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5AE4C6B5-28A4-49D3-8A40-D5A2295EC3F3}"/>
              </a:ext>
            </a:extLst>
          </p:cNvPr>
          <p:cNvSpPr txBox="1">
            <a:spLocks/>
          </p:cNvSpPr>
          <p:nvPr/>
        </p:nvSpPr>
        <p:spPr>
          <a:xfrm>
            <a:off x="2009149" y="1647582"/>
            <a:ext cx="2048507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FRONTEND</a:t>
            </a:r>
          </a:p>
          <a:p>
            <a:pPr lvl="1"/>
            <a:r>
              <a:rPr lang="de-DE"/>
              <a:t>PAUL</a:t>
            </a:r>
          </a:p>
          <a:p>
            <a:pPr lvl="1"/>
            <a:r>
              <a:rPr lang="de-DE"/>
              <a:t>NIELS</a:t>
            </a:r>
          </a:p>
          <a:p>
            <a:pPr lvl="1"/>
            <a:r>
              <a:rPr lang="de-DE"/>
              <a:t>ENRICO </a:t>
            </a:r>
            <a:endParaRPr lang="de-DE" dirty="0"/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2737D469-4AD2-4BD5-BCD4-9261AFAA878F}"/>
              </a:ext>
            </a:extLst>
          </p:cNvPr>
          <p:cNvSpPr txBox="1">
            <a:spLocks/>
          </p:cNvSpPr>
          <p:nvPr/>
        </p:nvSpPr>
        <p:spPr>
          <a:xfrm>
            <a:off x="7824152" y="3823251"/>
            <a:ext cx="2188029" cy="20726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BACKEND</a:t>
            </a:r>
          </a:p>
          <a:p>
            <a:pPr lvl="1"/>
            <a:r>
              <a:rPr lang="de-DE" dirty="0"/>
              <a:t>NIKLAS</a:t>
            </a:r>
          </a:p>
          <a:p>
            <a:pPr lvl="1"/>
            <a:r>
              <a:rPr lang="de-DE" dirty="0"/>
              <a:t>DANAT</a:t>
            </a:r>
          </a:p>
          <a:p>
            <a:pPr lvl="1"/>
            <a:r>
              <a:rPr lang="de-DE" dirty="0"/>
              <a:t>LUKAS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477DB5C-90D9-40AD-94AD-1B8697E58E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1041" r="7115"/>
          <a:stretch/>
        </p:blipFill>
        <p:spPr bwMode="auto">
          <a:xfrm>
            <a:off x="515938" y="3542147"/>
            <a:ext cx="5034930" cy="2634816"/>
          </a:xfrm>
          <a:prstGeom prst="roundRect">
            <a:avLst>
              <a:gd name="adj" fmla="val 3541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4D1ADF-C3EA-4C48-98FF-88E103437E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t="1018" b="8506"/>
          <a:stretch/>
        </p:blipFill>
        <p:spPr bwMode="auto">
          <a:xfrm>
            <a:off x="6178178" y="678858"/>
            <a:ext cx="5479978" cy="2863289"/>
          </a:xfrm>
          <a:prstGeom prst="roundRect">
            <a:avLst>
              <a:gd name="adj" fmla="val 3243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01542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083987-D6B5-44B9-A562-49B64342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 Aufteilung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3E97385-CDB8-4CC8-BC3E-C250A51C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5</a:t>
            </a:fld>
            <a:endParaRPr lang="de-DE" noProof="0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5AE4C6B5-28A4-49D3-8A40-D5A2295EC3F3}"/>
              </a:ext>
            </a:extLst>
          </p:cNvPr>
          <p:cNvSpPr txBox="1">
            <a:spLocks/>
          </p:cNvSpPr>
          <p:nvPr/>
        </p:nvSpPr>
        <p:spPr>
          <a:xfrm>
            <a:off x="1181205" y="1690466"/>
            <a:ext cx="3647579" cy="9203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Marketing und UI/UX</a:t>
            </a:r>
          </a:p>
          <a:p>
            <a:pPr lvl="1"/>
            <a:r>
              <a:rPr lang="de-DE" dirty="0" err="1"/>
              <a:t>Laurentz</a:t>
            </a:r>
            <a:endParaRPr lang="de-DE" dirty="0"/>
          </a:p>
        </p:txBody>
      </p:sp>
      <p:pic>
        <p:nvPicPr>
          <p:cNvPr id="1028" name="Picture 4" descr="Was ist Marketing? Definition, Erklärung und Beispiele für Einsteiger*innen  - jugend-gruendet">
            <a:extLst>
              <a:ext uri="{FF2B5EF4-FFF2-40B4-BE49-F238E27FC236}">
                <a16:creationId xmlns:a16="http://schemas.microsoft.com/office/drawing/2014/main" id="{967085F4-AE9C-4BC6-876B-9E35F03E0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458" y="3134311"/>
            <a:ext cx="9630866" cy="3041326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12342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dplatzhalter 17" descr="Geschäftswachstum mit einfarbiger Füllung">
            <a:extLst>
              <a:ext uri="{FF2B5EF4-FFF2-40B4-BE49-F238E27FC236}">
                <a16:creationId xmlns:a16="http://schemas.microsoft.com/office/drawing/2014/main" id="{8C2E548F-3EEE-44C4-BFC1-E919C3A5FCAF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58" b="158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366B64C4-14A6-4F16-8608-FAC2F7308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 Verantwortliche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EBFBCC-F388-4CAE-9ACD-87C3681E8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26" y="3427415"/>
            <a:ext cx="3445566" cy="2284272"/>
          </a:xfrm>
        </p:spPr>
        <p:txBody>
          <a:bodyPr/>
          <a:lstStyle/>
          <a:p>
            <a:r>
              <a:rPr lang="de-DE" sz="2800" dirty="0"/>
              <a:t>PAUL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EA41CF-D3DD-476E-B7AF-D4ED302CB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6</a:t>
            </a:fld>
            <a:endParaRPr lang="de-DE" noProof="0" dirty="0"/>
          </a:p>
        </p:txBody>
      </p:sp>
      <p:pic>
        <p:nvPicPr>
          <p:cNvPr id="22" name="Bildplatzhalter 21">
            <a:extLst>
              <a:ext uri="{FF2B5EF4-FFF2-40B4-BE49-F238E27FC236}">
                <a16:creationId xmlns:a16="http://schemas.microsoft.com/office/drawing/2014/main" id="{5DCF734B-9329-437A-98AB-D59AE2D9899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 l="21559" r="21559"/>
          <a:stretch>
            <a:fillRect/>
          </a:stretch>
        </p:blipFill>
        <p:spPr/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1383C3E-2F93-4DB8-BD6E-0314AA4E935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7490" y="3427415"/>
            <a:ext cx="3445200" cy="2284272"/>
          </a:xfrm>
        </p:spPr>
        <p:txBody>
          <a:bodyPr/>
          <a:lstStyle/>
          <a:p>
            <a:r>
              <a:rPr lang="de-DE" sz="2800" dirty="0"/>
              <a:t>LUKAS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1827479F-2790-463A-93C8-9CBA5229C1E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de-DE" sz="3200" dirty="0"/>
              <a:t>PRODUKT OWNER</a:t>
            </a:r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C9BB520-87CF-4E29-9DC6-5EB3F850E461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de-DE" sz="3200" dirty="0"/>
              <a:t>SCRUM</a:t>
            </a:r>
            <a:r>
              <a:rPr lang="de-DE" dirty="0"/>
              <a:t> </a:t>
            </a:r>
            <a:r>
              <a:rPr lang="de-DE" sz="3200" dirty="0"/>
              <a:t>MASTER</a:t>
            </a:r>
            <a:endParaRPr lang="de-DE" dirty="0"/>
          </a:p>
        </p:txBody>
      </p:sp>
      <p:pic>
        <p:nvPicPr>
          <p:cNvPr id="16" name="Bildplatzhalter 15" descr="Gehirn im Kopf mit einfarbiger Füllung">
            <a:extLst>
              <a:ext uri="{FF2B5EF4-FFF2-40B4-BE49-F238E27FC236}">
                <a16:creationId xmlns:a16="http://schemas.microsoft.com/office/drawing/2014/main" id="{E85AA84B-A2B8-479B-AECB-FF7887934C5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58" b="158"/>
          <a:stretch>
            <a:fillRect/>
          </a:stretch>
        </p:blipFill>
        <p:spPr/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5323455D-6010-455C-B4EA-1DC2A55D7D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85" b="92652" l="7029" r="92173">
                        <a14:foregroundMark x1="7987" y1="33067" x2="7029" y2="33866"/>
                        <a14:foregroundMark x1="39776" y1="29872" x2="36901" y2="31470"/>
                        <a14:foregroundMark x1="69329" y1="37380" x2="66613" y2="34185"/>
                        <a14:foregroundMark x1="73323" y1="45367" x2="74121" y2="45208"/>
                        <a14:foregroundMark x1="57508" y1="27157" x2="58466" y2="27316"/>
                        <a14:foregroundMark x1="58307" y1="17252" x2="59105" y2="18530"/>
                        <a14:foregroundMark x1="65176" y1="11342" x2="66613" y2="13259"/>
                        <a14:foregroundMark x1="73802" y1="9904" x2="73642" y2="11661"/>
                        <a14:foregroundMark x1="83067" y1="12141" x2="82588" y2="13419"/>
                        <a14:foregroundMark x1="90096" y1="18690" x2="87700" y2="19169"/>
                        <a14:foregroundMark x1="92332" y1="27636" x2="90256" y2="27636"/>
                        <a14:foregroundMark x1="60863" y1="92652" x2="56709" y2="926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0669" y="3816626"/>
            <a:ext cx="2062480" cy="206248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0170B417-7E4A-472D-98D1-329EF9D008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15453" y="3933288"/>
            <a:ext cx="2868601" cy="182915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276971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C82DB3A-68B0-4993-AD19-03B6E104B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5243073" cy="4351338"/>
          </a:xfrm>
        </p:spPr>
        <p:txBody>
          <a:bodyPr/>
          <a:lstStyle/>
          <a:p>
            <a:r>
              <a:rPr lang="de-DE" dirty="0"/>
              <a:t>Spielkonzept erweitern </a:t>
            </a:r>
          </a:p>
          <a:p>
            <a:pPr lvl="1"/>
            <a:r>
              <a:rPr lang="de-DE" dirty="0"/>
              <a:t>Globales </a:t>
            </a:r>
            <a:r>
              <a:rPr lang="de-DE" dirty="0" err="1"/>
              <a:t>Leaderboard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Season </a:t>
            </a:r>
            <a:r>
              <a:rPr lang="de-DE" dirty="0" err="1"/>
              <a:t>Reset</a:t>
            </a:r>
            <a:r>
              <a:rPr lang="de-DE" dirty="0"/>
              <a:t> mit Indexwechsel</a:t>
            </a:r>
          </a:p>
          <a:p>
            <a:pPr lvl="1"/>
            <a:r>
              <a:rPr lang="de-DE" dirty="0"/>
              <a:t>Achievements</a:t>
            </a:r>
          </a:p>
          <a:p>
            <a:pPr lvl="1"/>
            <a:r>
              <a:rPr lang="de-DE" dirty="0"/>
              <a:t>Belohnungen</a:t>
            </a:r>
          </a:p>
          <a:p>
            <a:r>
              <a:rPr lang="de-DE" dirty="0"/>
              <a:t>Tradeoptionen erweitern</a:t>
            </a:r>
          </a:p>
          <a:p>
            <a:pPr lvl="1"/>
            <a:r>
              <a:rPr lang="de-DE" dirty="0"/>
              <a:t>Orders</a:t>
            </a:r>
          </a:p>
          <a:p>
            <a:r>
              <a:rPr lang="de-DE" dirty="0"/>
              <a:t>Entwicklungserleichterungen</a:t>
            </a:r>
          </a:p>
          <a:p>
            <a:pPr lvl="1"/>
            <a:r>
              <a:rPr lang="de-DE" dirty="0"/>
              <a:t>CI/CD Pipeline</a:t>
            </a:r>
          </a:p>
          <a:p>
            <a:pPr lvl="1"/>
            <a:r>
              <a:rPr lang="de-DE" dirty="0"/>
              <a:t>Architektur Optimierung </a:t>
            </a:r>
          </a:p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1BE03A-87AF-4532-9B1F-1779634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7</a:t>
            </a:fld>
            <a:endParaRPr lang="de-DE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2E5BC7B-EC1E-4E93-A2CB-D1566FEF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SEASON 2 </a:t>
            </a:r>
            <a:br>
              <a:rPr lang="de-DE" dirty="0"/>
            </a:br>
            <a:r>
              <a:rPr lang="de-DE" dirty="0"/>
              <a:t>	Umsetzungsplan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36450A90-C241-4DD8-B2C8-FD14B8A655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301" r="19301"/>
          <a:stretch>
            <a:fillRect/>
          </a:stretch>
        </p:blipFill>
        <p:spPr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8870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6E78B8-B468-40B1-B056-37888CD20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1AF6ADC-9D62-4AFE-9BDD-B159F72F1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8</a:t>
            </a:fld>
            <a:endParaRPr lang="de-DE" noProof="0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B2EB28D8-1D87-4735-BBEA-93E6422DF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47" y="0"/>
            <a:ext cx="8964706" cy="6858000"/>
          </a:xfrm>
          <a:prstGeom prst="rect">
            <a:avLst/>
          </a:prstGeom>
        </p:spPr>
      </p:pic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F6E2C677-A760-4357-851B-16C9CA5FF94D}"/>
              </a:ext>
            </a:extLst>
          </p:cNvPr>
          <p:cNvSpPr/>
          <p:nvPr/>
        </p:nvSpPr>
        <p:spPr>
          <a:xfrm>
            <a:off x="8815590" y="3528811"/>
            <a:ext cx="792050" cy="218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0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6A77377C-E0BE-4A9D-9237-12B7BE382DD9}"/>
              </a:ext>
            </a:extLst>
          </p:cNvPr>
          <p:cNvSpPr/>
          <p:nvPr/>
        </p:nvSpPr>
        <p:spPr>
          <a:xfrm>
            <a:off x="8815590" y="4003183"/>
            <a:ext cx="792050" cy="218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-0,5%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23A20F28-62D2-422C-A607-8D4194E05128}"/>
              </a:ext>
            </a:extLst>
          </p:cNvPr>
          <p:cNvSpPr/>
          <p:nvPr/>
        </p:nvSpPr>
        <p:spPr>
          <a:xfrm>
            <a:off x="8815590" y="4522625"/>
            <a:ext cx="792050" cy="218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-1,0%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003BA48F-67BB-4CFB-999B-B62ED38F8E2F}"/>
              </a:ext>
            </a:extLst>
          </p:cNvPr>
          <p:cNvSpPr/>
          <p:nvPr/>
        </p:nvSpPr>
        <p:spPr>
          <a:xfrm>
            <a:off x="8815590" y="5083934"/>
            <a:ext cx="792050" cy="218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-1,5%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543A0AC1-1510-43C4-860A-075BB8F67DD5}"/>
              </a:ext>
            </a:extLst>
          </p:cNvPr>
          <p:cNvSpPr/>
          <p:nvPr/>
        </p:nvSpPr>
        <p:spPr>
          <a:xfrm>
            <a:off x="8815590" y="5580842"/>
            <a:ext cx="792050" cy="218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-2,0%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67CC6485-92D2-47D7-BBD5-8ACA653B31D9}"/>
              </a:ext>
            </a:extLst>
          </p:cNvPr>
          <p:cNvSpPr/>
          <p:nvPr/>
        </p:nvSpPr>
        <p:spPr>
          <a:xfrm>
            <a:off x="8324046" y="2516379"/>
            <a:ext cx="792050" cy="218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92D050"/>
                </a:solidFill>
              </a:rPr>
              <a:t>2,8%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E15AD93F-CD30-406B-972E-26A876112186}"/>
              </a:ext>
            </a:extLst>
          </p:cNvPr>
          <p:cNvSpPr/>
          <p:nvPr/>
        </p:nvSpPr>
        <p:spPr>
          <a:xfrm>
            <a:off x="5812667" y="2475599"/>
            <a:ext cx="792050" cy="218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92D050"/>
                </a:solidFill>
              </a:rPr>
              <a:t>2,9%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87B00DAF-8880-47EA-BECF-D8CC5C9AF2C4}"/>
              </a:ext>
            </a:extLst>
          </p:cNvPr>
          <p:cNvSpPr/>
          <p:nvPr/>
        </p:nvSpPr>
        <p:spPr>
          <a:xfrm>
            <a:off x="3249770" y="2516378"/>
            <a:ext cx="792050" cy="218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92D050"/>
                </a:solidFill>
              </a:rPr>
              <a:t>2,85%</a:t>
            </a: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373196A-E05D-41AA-AE81-1B731A107D78}"/>
              </a:ext>
            </a:extLst>
          </p:cNvPr>
          <p:cNvSpPr/>
          <p:nvPr/>
        </p:nvSpPr>
        <p:spPr>
          <a:xfrm>
            <a:off x="7834412" y="2962128"/>
            <a:ext cx="1962356" cy="2833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SWIFT-Value        i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4DC4C77D-AE32-49DA-8908-7C3027FA1EDD}"/>
              </a:ext>
            </a:extLst>
          </p:cNvPr>
          <p:cNvSpPr/>
          <p:nvPr/>
        </p:nvSpPr>
        <p:spPr>
          <a:xfrm>
            <a:off x="2553838" y="2964812"/>
            <a:ext cx="1058687" cy="2833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bg1"/>
                </a:solidFill>
              </a:rPr>
              <a:t>Other Players</a:t>
            </a:r>
          </a:p>
        </p:txBody>
      </p:sp>
      <p:sp>
        <p:nvSpPr>
          <p:cNvPr id="28" name="Kreis: nicht ausgefüllt 27">
            <a:extLst>
              <a:ext uri="{FF2B5EF4-FFF2-40B4-BE49-F238E27FC236}">
                <a16:creationId xmlns:a16="http://schemas.microsoft.com/office/drawing/2014/main" id="{AD4B2BDA-7DFB-418D-BDDB-8A735A1B36E2}"/>
              </a:ext>
            </a:extLst>
          </p:cNvPr>
          <p:cNvSpPr/>
          <p:nvPr/>
        </p:nvSpPr>
        <p:spPr>
          <a:xfrm>
            <a:off x="9259909" y="2947093"/>
            <a:ext cx="283335" cy="283344"/>
          </a:xfrm>
          <a:prstGeom prst="donut">
            <a:avLst>
              <a:gd name="adj" fmla="val 1212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32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C82DB3A-68B0-4993-AD19-03B6E104B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5243073" cy="4351338"/>
          </a:xfrm>
        </p:spPr>
        <p:txBody>
          <a:bodyPr/>
          <a:lstStyle/>
          <a:p>
            <a:r>
              <a:rPr lang="de-DE" dirty="0"/>
              <a:t>Globales </a:t>
            </a:r>
            <a:r>
              <a:rPr lang="de-DE" dirty="0" err="1"/>
              <a:t>Leaderboard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Seiteneinrichtung Frontend </a:t>
            </a:r>
          </a:p>
          <a:p>
            <a:pPr lvl="1"/>
            <a:r>
              <a:rPr lang="de-DE" dirty="0"/>
              <a:t>Datenbankanpassungen </a:t>
            </a:r>
          </a:p>
          <a:p>
            <a:pPr lvl="1"/>
            <a:r>
              <a:rPr lang="de-DE" dirty="0" err="1"/>
              <a:t>Leaderboard</a:t>
            </a:r>
            <a:r>
              <a:rPr lang="de-DE" dirty="0"/>
              <a:t> Routen </a:t>
            </a:r>
          </a:p>
          <a:p>
            <a:r>
              <a:rPr lang="de-DE" dirty="0"/>
              <a:t>Architekturanpassungen für Seasons</a:t>
            </a:r>
          </a:p>
          <a:p>
            <a:pPr lvl="1"/>
            <a:r>
              <a:rPr lang="de-DE" dirty="0"/>
              <a:t>Datenbankarchitektur erweitern </a:t>
            </a:r>
          </a:p>
          <a:p>
            <a:r>
              <a:rPr lang="de-DE" dirty="0"/>
              <a:t>Entwicklungserleichterungen</a:t>
            </a:r>
          </a:p>
          <a:p>
            <a:pPr lvl="1"/>
            <a:r>
              <a:rPr lang="de-DE" dirty="0"/>
              <a:t>CI/CD Pipeline beginnen</a:t>
            </a:r>
          </a:p>
          <a:p>
            <a:r>
              <a:rPr lang="de-DE" dirty="0"/>
              <a:t>Sonstige Vereinheitlichungen/Optimierungen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1BE03A-87AF-4532-9B1F-1779634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9</a:t>
            </a:fld>
            <a:endParaRPr lang="de-DE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2E5BC7B-EC1E-4E93-A2CB-D1566FEF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SEASON 2 </a:t>
            </a:r>
            <a:br>
              <a:rPr lang="de-DE" dirty="0"/>
            </a:br>
            <a:r>
              <a:rPr lang="de-DE" dirty="0"/>
              <a:t>	SPRINT 1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36450A90-C241-4DD8-B2C8-FD14B8A655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301" r="19301"/>
          <a:stretch>
            <a:fillRect/>
          </a:stretch>
        </p:blipFill>
        <p:spPr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0773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5D612B9-68B9-4C9F-98FE-CEE07DB1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3160" y="2575430"/>
            <a:ext cx="5464075" cy="1707139"/>
          </a:xfrm>
        </p:spPr>
        <p:txBody>
          <a:bodyPr rtlCol="0"/>
          <a:lstStyle/>
          <a:p>
            <a:pPr rtl="0"/>
            <a:r>
              <a:rPr lang="de-DE" dirty="0"/>
              <a:t>Vorstellung der Ergebnisse</a:t>
            </a:r>
          </a:p>
        </p:txBody>
      </p:sp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1A7461D5-44E5-40D7-945B-377577706FA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690" t="518" r="3905" b="-518"/>
          <a:stretch/>
        </p:blipFill>
        <p:spPr>
          <a:xfrm>
            <a:off x="710812" y="728545"/>
            <a:ext cx="5305661" cy="5305661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4288052-E11B-4589-B7CB-7EAFB3FC02EA}"/>
              </a:ext>
            </a:extLst>
          </p:cNvPr>
          <p:cNvSpPr txBox="1"/>
          <p:nvPr/>
        </p:nvSpPr>
        <p:spPr>
          <a:xfrm>
            <a:off x="1607076" y="5126416"/>
            <a:ext cx="3638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https://swift.wsf.wir.ad.th-wildau.de</a:t>
            </a:r>
          </a:p>
        </p:txBody>
      </p:sp>
    </p:spTree>
    <p:extLst>
      <p:ext uri="{BB962C8B-B14F-4D97-AF65-F5344CB8AC3E}">
        <p14:creationId xmlns:p14="http://schemas.microsoft.com/office/powerpoint/2010/main" val="112477953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Design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95_TF34076243" id="{08700077-069E-4FC7-9803-E0E8FFC68286}" vid="{D3EE604E-3FB4-4B44-A42C-EEFA81C76CBD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F4E1AF-DB5E-4764-961C-6F82B33E9E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519797F-2510-4681-A59B-FCD8F3733FE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4C31332-3081-4BD9-AD6F-078B4521F35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 „Blaue Kreise“</Template>
  <TotalTime>0</TotalTime>
  <Words>148</Words>
  <Application>Microsoft Office PowerPoint</Application>
  <PresentationFormat>Breitbild</PresentationFormat>
  <Paragraphs>72</Paragraphs>
  <Slides>10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Calibri</vt:lpstr>
      <vt:lpstr>Corbel</vt:lpstr>
      <vt:lpstr>Roboto</vt:lpstr>
      <vt:lpstr>Office-Design</vt:lpstr>
      <vt:lpstr>Software Wildau Investment and Financial Trading </vt:lpstr>
      <vt:lpstr>Wir machen Weiter!</vt:lpstr>
      <vt:lpstr>Technologien</vt:lpstr>
      <vt:lpstr>Team Aufteilung</vt:lpstr>
      <vt:lpstr>Team Aufteilung</vt:lpstr>
      <vt:lpstr>Team Verantwortliche</vt:lpstr>
      <vt:lpstr>SEASON 2   Umsetzungsplan</vt:lpstr>
      <vt:lpstr>PowerPoint-Präsentation</vt:lpstr>
      <vt:lpstr>SEASON 2   SPRINT 1</vt:lpstr>
      <vt:lpstr>Vorstellung der Ergebnisse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Präsentati-onstitel</dc:title>
  <dc:creator>Lukas Sontowski</dc:creator>
  <cp:lastModifiedBy>Lukas Sontowski</cp:lastModifiedBy>
  <cp:revision>88</cp:revision>
  <dcterms:created xsi:type="dcterms:W3CDTF">2025-04-07T12:42:05Z</dcterms:created>
  <dcterms:modified xsi:type="dcterms:W3CDTF">2025-10-02T10:41:00Z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