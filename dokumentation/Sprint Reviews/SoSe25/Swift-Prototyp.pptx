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8" r:id="rId5"/>
    <p:sldId id="278" r:id="rId6"/>
    <p:sldId id="269" r:id="rId7"/>
    <p:sldId id="277" r:id="rId8"/>
    <p:sldId id="272" r:id="rId9"/>
    <p:sldId id="274" r:id="rId10"/>
    <p:sldId id="276" r:id="rId11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1541" autoAdjust="0"/>
  </p:normalViewPr>
  <p:slideViewPr>
    <p:cSldViewPr snapToGrid="0" showGuides="1">
      <p:cViewPr varScale="1">
        <p:scale>
          <a:sx n="111" d="100"/>
          <a:sy n="111" d="100"/>
        </p:scale>
        <p:origin x="126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14.04.2025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14.04.2025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374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1398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115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059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14.04.2025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svg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5F9B50-CED9-4961-91E8-058BE256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de-DE" smtClean="0"/>
              <a:pPr rtl="0"/>
              <a:t>2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BFC75C7-7BB5-49B5-B594-31EA554CD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480" y="125235"/>
            <a:ext cx="8893040" cy="660752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144104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2A9C73-06ED-419B-81B5-491CBFC2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1" y="1825625"/>
            <a:ext cx="3991476" cy="4351338"/>
          </a:xfrm>
        </p:spPr>
        <p:txBody>
          <a:bodyPr rtlCol="0"/>
          <a:lstStyle/>
          <a:p>
            <a:r>
              <a:rPr lang="de-DE" sz="1800" dirty="0"/>
              <a:t>Bunt</a:t>
            </a:r>
          </a:p>
          <a:p>
            <a:r>
              <a:rPr lang="de-DE" sz="1800" dirty="0"/>
              <a:t>Überladen </a:t>
            </a:r>
          </a:p>
          <a:p>
            <a:r>
              <a:rPr lang="de-DE" sz="1800" dirty="0"/>
              <a:t>Nicht realitätsnah</a:t>
            </a:r>
          </a:p>
          <a:p>
            <a:r>
              <a:rPr lang="de-DE" sz="1800" dirty="0"/>
              <a:t>Schwer verständlich</a:t>
            </a:r>
          </a:p>
          <a:p>
            <a:r>
              <a:rPr lang="de-DE" sz="1800" dirty="0"/>
              <a:t>Keine Konzentration auf den Aktienhandel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5C6BAC-F3F8-4AA0-B332-02F66357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de-DE" smtClean="0"/>
              <a:pPr rtl="0"/>
              <a:t>3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C50832-0B36-43C5-98EC-4CD165D7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Andere Aktienspiele</a:t>
            </a:r>
            <a:br>
              <a:rPr lang="de-DE" dirty="0"/>
            </a:br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A3F1D23-3472-4128-9CD2-749E5E5B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047" y="514971"/>
            <a:ext cx="3567954" cy="634302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40F10824-9CE6-4B9D-B27D-06BFAFD5A6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98"/>
          <a:stretch/>
        </p:blipFill>
        <p:spPr>
          <a:xfrm>
            <a:off x="5171859" y="0"/>
            <a:ext cx="3452187" cy="6505664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356135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4043A9D-695A-45F6-97F4-F6898F6B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Ideenvorstellung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C7F007-C77F-4D80-9017-49C244882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Spiel in dem Aktienkauf und -verkauf einzelner Aktien möglich 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Es wird gegen den NASDAQ 100 mit dessen Aktien gespielt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Tägliche Auswertung über Sieg oder Niederlage (Tagessieger)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E5BC52-7C2D-4D61-A595-43CD985A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4</a:t>
            </a:fld>
            <a:endParaRPr lang="de-DE" noProof="0" dirty="0"/>
          </a:p>
        </p:txBody>
      </p:sp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2425175C-BA97-4DF8-9A78-C4C7A83A4D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450" r="24450"/>
          <a:stretch>
            <a:fillRect/>
          </a:stretch>
        </p:blipFill>
        <p:spPr/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8A3C4C2-26D8-42E4-B1E1-5D912395FC8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Einfacheres Spielkonzept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Realitätsnahes Erlebnis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Größerer Spiel- und Spaßfaktor 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3F04184-AB1C-459C-B14E-37EE2223C8AD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de-DE" dirty="0"/>
              <a:t>Idee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CCCBA99-51B2-4B8E-B786-30103999230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de-DE" dirty="0"/>
              <a:t>Vorteil gegenüber der Konkurrenz</a:t>
            </a:r>
          </a:p>
        </p:txBody>
      </p:sp>
      <p:pic>
        <p:nvPicPr>
          <p:cNvPr id="19" name="Inhaltsplatzhalter 15" descr="Glühlampe mit einfarbiger Füllung">
            <a:extLst>
              <a:ext uri="{FF2B5EF4-FFF2-40B4-BE49-F238E27FC236}">
                <a16:creationId xmlns:a16="http://schemas.microsoft.com/office/drawing/2014/main" id="{992295AD-D3C5-4233-93B3-FCC8DC76A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9937" y="1896688"/>
            <a:ext cx="707371" cy="707371"/>
          </a:xfrm>
          <a:prstGeom prst="rect">
            <a:avLst/>
          </a:prstGeom>
        </p:spPr>
      </p:pic>
      <p:pic>
        <p:nvPicPr>
          <p:cNvPr id="20" name="Inhaltsplatzhalter 17" descr="Balkendiagramm mit Aufwärtstrend mit einfarbiger Füllung">
            <a:extLst>
              <a:ext uri="{FF2B5EF4-FFF2-40B4-BE49-F238E27FC236}">
                <a16:creationId xmlns:a16="http://schemas.microsoft.com/office/drawing/2014/main" id="{1761DE22-C4F2-477A-84F7-2BC06E4E35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6221" y="1896687"/>
            <a:ext cx="707371" cy="70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2338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63C2D9-0850-4620-BE32-11F44A92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Technologien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1C0347-C2C9-46A2-B7A6-9653B525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de-DE" smtClean="0"/>
              <a:pPr rtl="0"/>
              <a:t>5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A6F33C-3AFE-474E-AC15-C00F368C3C6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pPr rtl="0"/>
            <a:r>
              <a:rPr lang="de-DE" dirty="0"/>
              <a:t>Frontend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1EE8A19-6968-4C81-B180-20FEF61ADEE1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 rtlCol="0"/>
          <a:lstStyle/>
          <a:p>
            <a:pPr rtl="0"/>
            <a:r>
              <a:rPr lang="de-DE" dirty="0"/>
              <a:t>Backend mit Datenbank</a:t>
            </a:r>
          </a:p>
        </p:txBody>
      </p:sp>
      <p:pic>
        <p:nvPicPr>
          <p:cNvPr id="7" name="Grafik 6" descr="Datenbank mit einfarbiger Füllung">
            <a:extLst>
              <a:ext uri="{FF2B5EF4-FFF2-40B4-BE49-F238E27FC236}">
                <a16:creationId xmlns:a16="http://schemas.microsoft.com/office/drawing/2014/main" id="{D47279CF-921B-4E82-B4A5-D71B8B74E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453" y="4765640"/>
            <a:ext cx="891007" cy="891007"/>
          </a:xfrm>
          <a:prstGeom prst="rect">
            <a:avLst/>
          </a:prstGeom>
        </p:spPr>
      </p:pic>
      <p:pic>
        <p:nvPicPr>
          <p:cNvPr id="15" name="Bildplatzhalter 14" descr="Monitor mit einfarbiger Füllung">
            <a:extLst>
              <a:ext uri="{FF2B5EF4-FFF2-40B4-BE49-F238E27FC236}">
                <a16:creationId xmlns:a16="http://schemas.microsoft.com/office/drawing/2014/main" id="{748A6545-DEBE-4278-A3AA-1B0A2FE43C3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A9254A7D-14C4-4B20-BC1C-0F1A04D1A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459" y="1963074"/>
            <a:ext cx="5715000" cy="3000375"/>
          </a:xfrm>
          <a:prstGeom prst="rect">
            <a:avLst/>
          </a:prstGeom>
        </p:spPr>
      </p:pic>
      <p:pic>
        <p:nvPicPr>
          <p:cNvPr id="1026" name="Picture 2" descr="Why Use Express with Node.js?">
            <a:extLst>
              <a:ext uri="{FF2B5EF4-FFF2-40B4-BE49-F238E27FC236}">
                <a16:creationId xmlns:a16="http://schemas.microsoft.com/office/drawing/2014/main" id="{4AF538C4-11B5-46EB-8020-63A1E57E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71" b="89883" l="3125" r="89844">
                        <a14:foregroundMark x1="8496" y1="35484" x2="9180" y2="63930"/>
                        <a14:foregroundMark x1="4102" y1="42375" x2="3125" y2="582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453" y="-336805"/>
            <a:ext cx="4665759" cy="310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Use Express with Node.js?">
            <a:extLst>
              <a:ext uri="{FF2B5EF4-FFF2-40B4-BE49-F238E27FC236}">
                <a16:creationId xmlns:a16="http://schemas.microsoft.com/office/drawing/2014/main" id="{85230A8F-CDAA-43DD-A6C9-AEA546056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71" b="89883" l="9961" r="98047">
                        <a14:foregroundMark x1="76563" y1="23754" x2="70313" y2="44868"/>
                        <a14:foregroundMark x1="70313" y1="44868" x2="72168" y2="67889"/>
                        <a14:foregroundMark x1="72168" y1="67889" x2="74121" y2="69795"/>
                        <a14:foregroundMark x1="94727" y1="40029" x2="98047" y2="52786"/>
                        <a14:backgroundMark x1="17871" y1="25513" x2="33398" y2="68915"/>
                        <a14:backgroundMark x1="22754" y1="31672" x2="34863" y2="35191"/>
                        <a14:backgroundMark x1="34863" y1="35191" x2="41113" y2="45455"/>
                        <a14:backgroundMark x1="41113" y1="45455" x2="36426" y2="63050"/>
                        <a14:backgroundMark x1="34473" y1="28886" x2="21875" y2="25073"/>
                        <a14:backgroundMark x1="21875" y1="25073" x2="12695" y2="30059"/>
                        <a14:backgroundMark x1="12695" y1="30059" x2="13184" y2="57331"/>
                        <a14:backgroundMark x1="13184" y1="57331" x2="25000" y2="70088"/>
                        <a14:backgroundMark x1="25000" y1="70088" x2="38086" y2="59384"/>
                        <a14:backgroundMark x1="38086" y1="59384" x2="38574" y2="36070"/>
                        <a14:backgroundMark x1="38574" y1="36070" x2="23047" y2="20088"/>
                        <a14:backgroundMark x1="23047" y1="20088" x2="16699" y2="19355"/>
                        <a14:backgroundMark x1="28125" y1="12903" x2="17188" y2="14956"/>
                        <a14:backgroundMark x1="17188" y1="14956" x2="5371" y2="25660"/>
                        <a14:backgroundMark x1="5371" y1="25660" x2="4980" y2="77126"/>
                        <a14:backgroundMark x1="4980" y1="77126" x2="14063" y2="84751"/>
                        <a14:backgroundMark x1="14063" y1="84751" x2="24805" y2="87390"/>
                        <a14:backgroundMark x1="24805" y1="87390" x2="42969" y2="71554"/>
                        <a14:backgroundMark x1="42969" y1="71554" x2="58105" y2="25513"/>
                        <a14:backgroundMark x1="58105" y1="25513" x2="31055" y2="11877"/>
                        <a14:backgroundMark x1="31055" y1="11877" x2="26465" y2="12610"/>
                        <a14:backgroundMark x1="10645" y1="63196" x2="42188" y2="89150"/>
                        <a14:backgroundMark x1="23633" y1="59531" x2="20117" y2="48974"/>
                        <a14:backgroundMark x1="29199" y1="49853" x2="29688" y2="37537"/>
                        <a14:backgroundMark x1="18750" y1="47507" x2="18750" y2="47507"/>
                        <a14:backgroundMark x1="18750" y1="47507" x2="18750" y2="47507"/>
                        <a14:backgroundMark x1="18652" y1="45308" x2="22461" y2="48094"/>
                        <a14:backgroundMark x1="34375" y1="52639" x2="33594" y2="46041"/>
                        <a14:backgroundMark x1="23242" y1="62023" x2="25684" y2="58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989" y="1408491"/>
            <a:ext cx="5842498" cy="389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ext.js Logo - PNG Logo Vector Brand Downloads (SVG, EPS)">
            <a:extLst>
              <a:ext uri="{FF2B5EF4-FFF2-40B4-BE49-F238E27FC236}">
                <a16:creationId xmlns:a16="http://schemas.microsoft.com/office/drawing/2014/main" id="{28CD0335-1CBC-44CF-BDC0-D0A589A7F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13" y="2770663"/>
            <a:ext cx="5265952" cy="329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0364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BFCA16-8D78-4A87-9023-708458E3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Teamzusammenstellung 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0F7B49-6C9D-4DBF-AD20-9D4CFAB1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de-DE" smtClean="0"/>
              <a:pPr rtl="0"/>
              <a:t>6</a:t>
            </a:fld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935AC4D-C17D-4827-B693-43A34920A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Paul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Enrico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Niels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66C6D21-6780-4D8A-9B6F-582E0BD2DC2E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 rtlCol="0"/>
          <a:lstStyle/>
          <a:p>
            <a:pPr rtl="0"/>
            <a:r>
              <a:rPr lang="de-DE" dirty="0"/>
              <a:t>Frontend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CF1405A-05DA-4553-A7B3-B9592963C6B1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86707" y="4052306"/>
            <a:ext cx="2588705" cy="1749005"/>
          </a:xfrm>
        </p:spPr>
        <p:txBody>
          <a:bodyPr rtlCol="0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Niklas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 err="1"/>
              <a:t>Danat</a:t>
            </a:r>
            <a:r>
              <a:rPr lang="de-DE" dirty="0"/>
              <a:t>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 err="1"/>
              <a:t>Laurentz</a:t>
            </a:r>
            <a:endParaRPr lang="de-DE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Lukas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0DE57B2-448D-4C8D-8B9C-FFDDFB0A9208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 rtlCol="0"/>
          <a:lstStyle/>
          <a:p>
            <a:pPr rtl="0"/>
            <a:r>
              <a:rPr lang="de-DE" dirty="0"/>
              <a:t>Backend und DB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780C3E07-3509-4911-AFF9-20EA8F12D0A4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 rtlCol="0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Paul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FB9E2175-1C3C-4B3E-A872-A1B7E6D64D52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 rtlCol="0"/>
          <a:lstStyle/>
          <a:p>
            <a:pPr rtl="0"/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Owner</a:t>
            </a:r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4EAA9254-229F-4C3E-B078-B8912E5BBE98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 rtlCol="0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Lukas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471C9CF1-70B0-46DB-869F-6DC53668898D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 rtlCol="0"/>
          <a:lstStyle/>
          <a:p>
            <a:pPr rtl="0"/>
            <a:r>
              <a:rPr lang="de-DE" dirty="0" err="1"/>
              <a:t>Scrum</a:t>
            </a:r>
            <a:r>
              <a:rPr lang="de-DE" dirty="0"/>
              <a:t>-Master</a:t>
            </a:r>
          </a:p>
        </p:txBody>
      </p:sp>
      <p:pic>
        <p:nvPicPr>
          <p:cNvPr id="25" name="Grafik 24" descr="Männliches Profil mit einfarbiger Füllung">
            <a:extLst>
              <a:ext uri="{FF2B5EF4-FFF2-40B4-BE49-F238E27FC236}">
                <a16:creationId xmlns:a16="http://schemas.microsoft.com/office/drawing/2014/main" id="{D81509A6-0D9B-4FCB-864A-2F595C714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3741" y="2207400"/>
            <a:ext cx="914400" cy="914400"/>
          </a:xfrm>
          <a:prstGeom prst="rect">
            <a:avLst/>
          </a:prstGeom>
        </p:spPr>
      </p:pic>
      <p:pic>
        <p:nvPicPr>
          <p:cNvPr id="27" name="Grafik 26" descr="Callcenter mit einfarbiger Füllung">
            <a:extLst>
              <a:ext uri="{FF2B5EF4-FFF2-40B4-BE49-F238E27FC236}">
                <a16:creationId xmlns:a16="http://schemas.microsoft.com/office/drawing/2014/main" id="{CA1E3B72-2C75-4FAE-BEAA-EB3F639886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5994" y="2207400"/>
            <a:ext cx="914400" cy="914400"/>
          </a:xfrm>
          <a:prstGeom prst="rect">
            <a:avLst/>
          </a:prstGeom>
        </p:spPr>
      </p:pic>
      <p:pic>
        <p:nvPicPr>
          <p:cNvPr id="29" name="Grafik 28" descr="Datenbank mit einfarbiger Füllung">
            <a:extLst>
              <a:ext uri="{FF2B5EF4-FFF2-40B4-BE49-F238E27FC236}">
                <a16:creationId xmlns:a16="http://schemas.microsoft.com/office/drawing/2014/main" id="{EE3C5B86-6CEE-4BCC-B1DE-47741524E0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23859" y="2207400"/>
            <a:ext cx="914400" cy="914400"/>
          </a:xfrm>
          <a:prstGeom prst="rect">
            <a:avLst/>
          </a:prstGeom>
        </p:spPr>
      </p:pic>
      <p:pic>
        <p:nvPicPr>
          <p:cNvPr id="31" name="Grafik 30" descr="Monitor mit einfarbiger Füllung">
            <a:extLst>
              <a:ext uri="{FF2B5EF4-FFF2-40B4-BE49-F238E27FC236}">
                <a16:creationId xmlns:a16="http://schemas.microsoft.com/office/drawing/2014/main" id="{35473D27-2ECA-45AB-93BD-D55D5E4081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1606" y="21524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344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00" y="2648227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Demo des Prototypen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2BAEC513-74F9-4C6F-80B0-868B3F5D8F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875" r="218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101</Words>
  <Application>Microsoft Office PowerPoint</Application>
  <PresentationFormat>Breitbild</PresentationFormat>
  <Paragraphs>46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Corbel</vt:lpstr>
      <vt:lpstr>Office-Design</vt:lpstr>
      <vt:lpstr>Software Wildau Investment and Financial Trading </vt:lpstr>
      <vt:lpstr>PowerPoint-Präsentation</vt:lpstr>
      <vt:lpstr>Andere Aktienspiele </vt:lpstr>
      <vt:lpstr>Ideenvorstellung</vt:lpstr>
      <vt:lpstr>Technologien </vt:lpstr>
      <vt:lpstr>Teamzusammenstellung </vt:lpstr>
      <vt:lpstr>Demo des Prototypen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42</cp:revision>
  <dcterms:created xsi:type="dcterms:W3CDTF">2025-04-07T12:42:05Z</dcterms:created>
  <dcterms:modified xsi:type="dcterms:W3CDTF">2025-04-14T14:08:09Z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